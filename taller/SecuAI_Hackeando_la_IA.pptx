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 5 min. Hook emocional. Pregunta al público.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Marca pivotes claros. Repetimos: demo → práctica → demo → práctica. Activación constante.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Casi todas las manos van a estar arriba. Es el primer enganche emocional.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gap entre adopción y seguridad. Esa es la tesis del 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Aterrizar la magnitud. Esto pasó hace 2 años, no es ciencia ficción.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conocen OWASP/AppSec — sus asunciones no aplican.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 para legitimar que esto es disciplina con taxonomía, no buzzword.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flecha = oportunidad de ataque. Profundizamos en SERVE porque es donde casi todos despliegan.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Verificar lab-prompt-injection arriba. Tener curl/Postman listos como plan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reto dura 2-3 min. Si fallan, payload de emergencia listo en pantalla.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no participan: agruparlos de 3 con 1 portátil. Lanza el cronómetro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Capitalizar lo que han hecho. La gente aprende mejor lo que acaba de tocar.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Subir el nivel: ahora ya no necesitas un usuario hostil, basta con un doc hostil.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que NO es teoría. Tres productos masivos vulnerados en 18 meses.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Tener cv_normal.pdf y cv_envenenado.pdf listos. Mostrar Ctrl+A para revelar el payload.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Energía aquí. Que no se vayan deprimidos: hay defensas concretas que sí funcionan.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 cada uno. Nadie usa solo uno: se combinan.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Honestidad: si solo tienes esto, NO tienes defensa.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solo se llevan 1 idea técnica: este slide. Cadencias concretas.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Pasea, escucha. Anota propuestas brillantes para citarlas en el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Aterrizar en cifras de negocio. Útil cuando expongan ante dirección.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es el número mágico. Si recuerdan tres, has ganado.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QR funcionales reales: sustituir los placeholders por imágenes de QR antes de presentar.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 la pantalla aquí durante el Q&amp;A. Sin info de más que distraiga.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Métrica objetivo: ≥70% completan. Apunta a NPS ≥50.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37760"/>
            <a:ext cx="12191695" cy="36576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4920"/>
            <a:ext cx="4267093" cy="18288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66360"/>
            <a:ext cx="2194505" cy="18288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Inter"/>
              </a:rPr>
              <a:t>TALLER · 90 MIN · CHARLA + PRÁCTICA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0" b="1" i="0">
                <a:solidFill>
                  <a:srgbClr val="F5F7FA"/>
                </a:solidFill>
                <a:latin typeface="Inter"/>
              </a:rPr>
              <a:t>Hackeando la 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8A94A6"/>
                </a:solidFill>
                <a:latin typeface="Inter"/>
              </a:rPr>
              <a:t>Del prompt injection a las defensas reales.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864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5F7FA"/>
                </a:solidFill>
                <a:latin typeface="Inter"/>
              </a:rPr>
              <a:t>José Picón · jose.bobal@gmail.com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A94A6"/>
                </a:solidFill>
                <a:latin typeface="Inter"/>
              </a:rPr>
              <a:t>Curso especialización · Ciberseguridad · ENS 2025/26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14255" y="5486400"/>
            <a:ext cx="1828800" cy="502920"/>
          </a:xfrm>
          <a:prstGeom prst="roundRect">
            <a:avLst>
              <a:gd name="adj" fmla="val 18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14255" y="55321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Inter"/>
              </a:rPr>
              <a:t>SecuAI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80015" y="0"/>
            <a:ext cx="201168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Inter"/>
              </a:rPr>
              <a:t>AGENDA · 90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5F7FA"/>
                </a:solidFill>
                <a:latin typeface="Inter"/>
              </a:rPr>
              <a:t>Cómo va a ir esto.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1417320" cy="384048"/>
          </a:xfrm>
          <a:prstGeom prst="roundRect">
            <a:avLst>
              <a:gd name="adj" fmla="val 18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A0E27"/>
                </a:solidFill>
                <a:latin typeface="Inter"/>
              </a:rPr>
              <a:t>00–05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1920240"/>
            <a:ext cx="9144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5F7FA"/>
                </a:solidFill>
                <a:latin typeface="Inter"/>
              </a:rPr>
              <a:t>Bienvenida &amp; hook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8"/>
            <a:ext cx="1417320" cy="384048"/>
          </a:xfrm>
          <a:prstGeom prst="roundRect">
            <a:avLst>
              <a:gd name="adj" fmla="val 18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95728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A0E27"/>
                </a:solidFill>
                <a:latin typeface="Inter"/>
              </a:rPr>
              <a:t>05–15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2395728"/>
            <a:ext cx="9144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5F7FA"/>
                </a:solidFill>
                <a:latin typeface="Inter"/>
              </a:rPr>
              <a:t>Mapa de la IA bajo ataque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871216"/>
            <a:ext cx="1417320" cy="384048"/>
          </a:xfrm>
          <a:prstGeom prst="roundRect">
            <a:avLst>
              <a:gd name="adj" fmla="val 18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87121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A0E27"/>
                </a:solidFill>
                <a:latin typeface="Inter"/>
              </a:rPr>
              <a:t>15–25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871216"/>
            <a:ext cx="9144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5F7FA"/>
                </a:solidFill>
                <a:latin typeface="Inter"/>
              </a:rPr>
              <a:t>DEMO 1 — Prompt injection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46704"/>
            <a:ext cx="1417320" cy="384048"/>
          </a:xfrm>
          <a:prstGeom prst="roundRect">
            <a:avLst>
              <a:gd name="adj" fmla="val 18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346704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A0E27"/>
                </a:solidFill>
                <a:latin typeface="Inter"/>
              </a:rPr>
              <a:t>25–40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3346704"/>
            <a:ext cx="9144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5F7FA"/>
                </a:solidFill>
                <a:latin typeface="Inter"/>
              </a:rPr>
              <a:t>PRÁCTICA 1 — Atacáis vosotros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22192"/>
            <a:ext cx="1417320" cy="384048"/>
          </a:xfrm>
          <a:prstGeom prst="roundRect">
            <a:avLst>
              <a:gd name="adj" fmla="val 18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822192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A0E27"/>
                </a:solidFill>
                <a:latin typeface="Inter"/>
              </a:rPr>
              <a:t>40–50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3822192"/>
            <a:ext cx="9144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5F7FA"/>
                </a:solidFill>
                <a:latin typeface="Inter"/>
              </a:rPr>
              <a:t>Indirect injection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97680"/>
            <a:ext cx="1417320" cy="384048"/>
          </a:xfrm>
          <a:prstGeom prst="roundRect">
            <a:avLst>
              <a:gd name="adj" fmla="val 18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297680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A0E27"/>
                </a:solidFill>
                <a:latin typeface="Inter"/>
              </a:rPr>
              <a:t>50–58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4297680"/>
            <a:ext cx="9144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5F7FA"/>
                </a:solidFill>
                <a:latin typeface="Inter"/>
              </a:rPr>
              <a:t>DEMO 2 — PDF envenenado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773168"/>
            <a:ext cx="1417320" cy="384048"/>
          </a:xfrm>
          <a:prstGeom prst="roundRect">
            <a:avLst>
              <a:gd name="adj" fmla="val 18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773168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A0E27"/>
                </a:solidFill>
                <a:latin typeface="Inter"/>
              </a:rPr>
              <a:t>58–75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4773168"/>
            <a:ext cx="9144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5F7FA"/>
                </a:solidFill>
                <a:latin typeface="Inter"/>
              </a:rPr>
              <a:t>Defensas reales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248656"/>
            <a:ext cx="1417320" cy="384048"/>
          </a:xfrm>
          <a:prstGeom prst="roundRect">
            <a:avLst>
              <a:gd name="adj" fmla="val 18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24865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A0E27"/>
                </a:solidFill>
                <a:latin typeface="Inter"/>
              </a:rPr>
              <a:t>75–85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5248656"/>
            <a:ext cx="9144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5F7FA"/>
                </a:solidFill>
                <a:latin typeface="Inter"/>
              </a:rPr>
              <a:t>PRÁCTICA 2 — Diseña tu pila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724144"/>
            <a:ext cx="1417320" cy="384048"/>
          </a:xfrm>
          <a:prstGeom prst="roundRect">
            <a:avLst>
              <a:gd name="adj" fmla="val 18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724144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A0E27"/>
                </a:solidFill>
                <a:latin typeface="Inter"/>
              </a:rPr>
              <a:t>85–90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94560" y="5724144"/>
            <a:ext cx="91440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5F7FA"/>
                </a:solidFill>
                <a:latin typeface="Inter"/>
              </a:rPr>
              <a:t>Cierre + Q&amp;A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6080760"/>
            <a:ext cx="228600" cy="228600"/>
          </a:xfrm>
          <a:prstGeom prst="roundRect">
            <a:avLst>
              <a:gd name="adj" fmla="val 18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60624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Inter"/>
              </a:rPr>
              <a:t>Contenido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77440" y="6080760"/>
            <a:ext cx="228600" cy="228600"/>
          </a:xfrm>
          <a:prstGeom prst="roundRect">
            <a:avLst>
              <a:gd name="adj" fmla="val 18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97480" y="60624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Inter"/>
              </a:rPr>
              <a:t>Demo en vivo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89120" y="6080760"/>
            <a:ext cx="228600" cy="228600"/>
          </a:xfrm>
          <a:prstGeom prst="roundRect">
            <a:avLst>
              <a:gd name="adj" fmla="val 18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09159" y="60624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Inter"/>
              </a:rPr>
              <a:t>Práctica audiencia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6080760"/>
            <a:ext cx="228600" cy="228600"/>
          </a:xfrm>
          <a:prstGeom prst="roundRect">
            <a:avLst>
              <a:gd name="adj" fmla="val 18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20840" y="60624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Inter"/>
              </a:rPr>
              <a:t>Cierre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0080"/>
                </a:solidFill>
                <a:latin typeface="Inter"/>
              </a:rPr>
              <a:t>PREGUNTA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9728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5F7FA"/>
                </a:solidFill>
                <a:latin typeface="Inter"/>
              </a:rPr>
              <a:t>¿En vuestra organización</a:t>
            </a:r>
          </a:p>
          <a:p>
            <a:pPr algn="l"/>
            <a:r>
              <a:rPr sz="5400" b="1" i="0">
                <a:solidFill>
                  <a:srgbClr val="F5F7FA"/>
                </a:solidFill>
                <a:latin typeface="Inter"/>
              </a:rPr>
              <a:t>hay ya algún chatbot,</a:t>
            </a:r>
          </a:p>
          <a:p>
            <a:pPr algn="l"/>
            <a:r>
              <a:rPr sz="5400" b="1" i="0">
                <a:solidFill>
                  <a:srgbClr val="F5F7FA"/>
                </a:solidFill>
                <a:latin typeface="Inter"/>
              </a:rPr>
              <a:t>copiloto o pipeline</a:t>
            </a:r>
          </a:p>
          <a:p>
            <a:pPr algn="l"/>
            <a:r>
              <a:rPr sz="5400" b="1" i="0">
                <a:solidFill>
                  <a:srgbClr val="F5F7FA"/>
                </a:solidFill>
                <a:latin typeface="Inter"/>
              </a:rPr>
              <a:t>con IA generativa?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1">
                <a:solidFill>
                  <a:srgbClr val="00D4FF"/>
                </a:solidFill>
                <a:latin typeface="Inter"/>
              </a:rPr>
              <a:t>Levantad la mano. 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80015" y="0"/>
            <a:ext cx="201168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0080"/>
                </a:solidFill>
                <a:latin typeface="Inter"/>
              </a:rPr>
              <a:t>PREGUNTA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9728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5F7FA"/>
                </a:solidFill>
                <a:latin typeface="Inter"/>
              </a:rPr>
              <a:t>¿Quien lo desplegó</a:t>
            </a:r>
          </a:p>
          <a:p>
            <a:pPr algn="l"/>
            <a:r>
              <a:rPr sz="5800" b="1" i="0">
                <a:solidFill>
                  <a:srgbClr val="F5F7FA"/>
                </a:solidFill>
                <a:latin typeface="Inter"/>
              </a:rPr>
              <a:t>hizo un threat model</a:t>
            </a:r>
          </a:p>
          <a:p>
            <a:pPr algn="l"/>
            <a:r>
              <a:rPr sz="5800" b="1" i="0">
                <a:solidFill>
                  <a:srgbClr val="F5F7FA"/>
                </a:solidFill>
                <a:latin typeface="Inter"/>
              </a:rPr>
              <a:t>de seguridad?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1">
                <a:solidFill>
                  <a:srgbClr val="FF9500"/>
                </a:solidFill>
                <a:latin typeface="Inter"/>
              </a:rPr>
              <a:t>Casi ninguna mano. Ahí está el problema. 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80015" y="0"/>
            <a:ext cx="201168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80015" y="0"/>
            <a:ext cx="201168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3B3B"/>
                </a:solidFill>
                <a:latin typeface="Inter"/>
              </a:rPr>
              <a:t>CASO REAL · FEBRERO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5F7FA"/>
                </a:solidFill>
                <a:latin typeface="Inter"/>
              </a:rPr>
              <a:t>Hong Kong: 25 M USD en una videoconferencia.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6858000" cy="402336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Inter"/>
              </a:rPr>
              <a:t>Lo que pasó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60320"/>
            <a:ext cx="64008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00D4FF"/>
                </a:solidFill>
                <a:latin typeface="Inter"/>
              </a:rPr>
              <a:t>•  </a:t>
            </a:r>
            <a:r>
              <a:rPr sz="1700">
                <a:solidFill>
                  <a:srgbClr val="F5F7FA"/>
                </a:solidFill>
                <a:latin typeface="Inter"/>
              </a:rPr>
              <a:t>Empleado financiero entra a una videollamada con su CFO.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00D4FF"/>
                </a:solidFill>
                <a:latin typeface="Inter"/>
              </a:rPr>
              <a:t>•  </a:t>
            </a:r>
            <a:r>
              <a:rPr sz="1700">
                <a:solidFill>
                  <a:srgbClr val="F5F7FA"/>
                </a:solidFill>
                <a:latin typeface="Inter"/>
              </a:rPr>
              <a:t>Reconoce las caras. Reconoce las voces.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00D4FF"/>
                </a:solidFill>
                <a:latin typeface="Inter"/>
              </a:rPr>
              <a:t>•  </a:t>
            </a:r>
            <a:r>
              <a:rPr sz="1700">
                <a:solidFill>
                  <a:srgbClr val="F5F7FA"/>
                </a:solidFill>
                <a:latin typeface="Inter"/>
              </a:rPr>
              <a:t>El CFO autoriza una transferencia. La ejecuta.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00D4FF"/>
                </a:solidFill>
                <a:latin typeface="Inter"/>
              </a:rPr>
              <a:t>•  </a:t>
            </a:r>
            <a:r>
              <a:rPr sz="1700">
                <a:solidFill>
                  <a:srgbClr val="F5F7FA"/>
                </a:solidFill>
                <a:latin typeface="Inter"/>
              </a:rPr>
              <a:t>Todos en la llamada — menos él — eran deepfakes en tiempo real.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1920240"/>
            <a:ext cx="3840480" cy="4023360"/>
          </a:xfrm>
          <a:prstGeom prst="roundRect">
            <a:avLst>
              <a:gd name="adj" fmla="val 18000"/>
            </a:avLst>
          </a:prstGeom>
          <a:solidFill>
            <a:srgbClr val="330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228600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3B3B"/>
                </a:solidFill>
                <a:latin typeface="Inter"/>
              </a:rPr>
              <a:t>PÉRDIDA TOTAL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926080"/>
            <a:ext cx="3840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0" b="1" i="0">
                <a:solidFill>
                  <a:srgbClr val="FF3B3B"/>
                </a:solidFill>
                <a:latin typeface="Inter"/>
              </a:rPr>
              <a:t>25M$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572000"/>
            <a:ext cx="3840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5F7FA"/>
                </a:solidFill>
                <a:latin typeface="Inter"/>
              </a:rPr>
              <a:t>No fue sofisticado.</a:t>
            </a:r>
          </a:p>
          <a:p>
            <a:pPr algn="ctr"/>
            <a:r>
              <a:rPr sz="1800" b="1" i="0">
                <a:solidFill>
                  <a:srgbClr val="F5F7FA"/>
                </a:solidFill>
                <a:latin typeface="Inter"/>
              </a:rPr>
              <a:t>Fue replicable.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80015" y="0"/>
            <a:ext cx="201168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Inter"/>
              </a:rPr>
              <a:t>TESIS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5F7FA"/>
                </a:solidFill>
                <a:latin typeface="Inter"/>
              </a:rPr>
              <a:t>AppSec clásica no basta para 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5394960" cy="502920"/>
          </a:xfrm>
          <a:prstGeom prst="roundRect">
            <a:avLst>
              <a:gd name="adj" fmla="val 18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26480" y="2011680"/>
            <a:ext cx="5486400" cy="502920"/>
          </a:xfrm>
          <a:prstGeom prst="roundRect">
            <a:avLst>
              <a:gd name="adj" fmla="val 18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Inter"/>
              </a:rPr>
              <a:t>AppSec clásica asume…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011680"/>
            <a:ext cx="5303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F5F7FA"/>
                </a:solidFill>
                <a:latin typeface="Inter"/>
              </a:rPr>
              <a:t>En IA NO se cumple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651760"/>
            <a:ext cx="5394960" cy="68580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26480" y="2651760"/>
            <a:ext cx="5486400" cy="685800"/>
          </a:xfrm>
          <a:prstGeom prst="roundRect">
            <a:avLst>
              <a:gd name="adj" fmla="val 18000"/>
            </a:avLst>
          </a:prstGeom>
          <a:solidFill>
            <a:srgbClr val="2A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51760"/>
            <a:ext cx="5029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F5F7FA"/>
                </a:solidFill>
                <a:latin typeface="Inter"/>
              </a:rPr>
              <a:t>Input determinista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651760"/>
            <a:ext cx="52120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FF0080"/>
                </a:solidFill>
                <a:latin typeface="Inter"/>
              </a:rPr>
              <a:t>Texto / imagen / audio probabilístico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428999"/>
            <a:ext cx="5394960" cy="68580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26480" y="3428999"/>
            <a:ext cx="5486400" cy="685800"/>
          </a:xfrm>
          <a:prstGeom prst="roundRect">
            <a:avLst>
              <a:gd name="adj" fmla="val 18000"/>
            </a:avLst>
          </a:prstGeom>
          <a:solidFill>
            <a:srgbClr val="2A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428999"/>
            <a:ext cx="5029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F5F7FA"/>
                </a:solidFill>
                <a:latin typeface="Inter"/>
              </a:rPr>
              <a:t>Output verificable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428999"/>
            <a:ext cx="52120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FF0080"/>
                </a:solidFill>
                <a:latin typeface="Inter"/>
              </a:rPr>
              <a:t>Output generativo, no determinista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06240"/>
            <a:ext cx="5394960" cy="68580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26480" y="4206240"/>
            <a:ext cx="5486400" cy="685800"/>
          </a:xfrm>
          <a:prstGeom prst="roundRect">
            <a:avLst>
              <a:gd name="adj" fmla="val 18000"/>
            </a:avLst>
          </a:prstGeom>
          <a:solidFill>
            <a:srgbClr val="2A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206240"/>
            <a:ext cx="5029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F5F7FA"/>
                </a:solidFill>
                <a:latin typeface="Inter"/>
              </a:rPr>
              <a:t>Frontera de confianza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206240"/>
            <a:ext cx="52120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FF0080"/>
                </a:solidFill>
                <a:latin typeface="Inter"/>
              </a:rPr>
              <a:t>Prompt + datos comparten contexto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83480"/>
            <a:ext cx="5394960" cy="68580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5486400" cy="685800"/>
          </a:xfrm>
          <a:prstGeom prst="roundRect">
            <a:avLst>
              <a:gd name="adj" fmla="val 18000"/>
            </a:avLst>
          </a:prstGeom>
          <a:solidFill>
            <a:srgbClr val="2A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983480"/>
            <a:ext cx="5029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F5F7FA"/>
                </a:solidFill>
                <a:latin typeface="Inter"/>
              </a:rPr>
              <a:t>Código separado de datos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983480"/>
            <a:ext cx="52120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FF0080"/>
                </a:solidFill>
                <a:latin typeface="Inter"/>
              </a:rPr>
              <a:t>Modelo = código + datos + comportamiento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80015" y="0"/>
            <a:ext cx="201168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Inter"/>
              </a:rPr>
              <a:t>MARCO · MITRE ATLAS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5F7FA"/>
                </a:solidFill>
                <a:latin typeface="Inter"/>
              </a:rPr>
              <a:t>Si conocéis ATT&amp;CK, ATLAS es lo mismo para 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3657600" cy="23774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 i="0">
                <a:solidFill>
                  <a:srgbClr val="00D4FF"/>
                </a:solidFill>
                <a:latin typeface="Inter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5F7FA"/>
                </a:solidFill>
                <a:latin typeface="Inter"/>
              </a:rPr>
              <a:t>TÁCTICAS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194560"/>
            <a:ext cx="3657600" cy="23774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37744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 i="0">
                <a:solidFill>
                  <a:srgbClr val="FF0080"/>
                </a:solidFill>
                <a:latin typeface="Inter"/>
              </a:rPr>
              <a:t>80+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931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5F7FA"/>
                </a:solidFill>
                <a:latin typeface="Inter"/>
              </a:rPr>
              <a:t>TÉCNICAS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194560"/>
            <a:ext cx="3657600" cy="23774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377440"/>
            <a:ext cx="3657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0" b="1" i="0">
                <a:solidFill>
                  <a:srgbClr val="00FF88"/>
                </a:solidFill>
                <a:latin typeface="Inter"/>
              </a:rPr>
              <a:t>30+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931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5F7FA"/>
                </a:solidFill>
                <a:latin typeface="Inter"/>
              </a:rPr>
              <a:t>CASE STUDIES REALES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937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8A94A6"/>
                </a:solidFill>
                <a:latin typeface="Inter"/>
              </a:rPr>
              <a:t>Casos documentados: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035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5F7FA"/>
                </a:solidFill>
                <a:latin typeface="Inter"/>
              </a:rPr>
              <a:t>PoisonGPT  ·  Bing Sydney  ·  Tay  ·  Slack AI exfil  ·  Bing+arXiv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Inter"/>
              </a:rPr>
              <a:t>→  atlas.mitre.org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80015" y="0"/>
            <a:ext cx="201168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Inter"/>
              </a:rPr>
              <a:t>MAPA DE ATAQUE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5F7FA"/>
                </a:solidFill>
                <a:latin typeface="Inter"/>
              </a:rPr>
              <a:t>Ciclo MLOps · cada flecha es un blanco.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F7FA"/>
                </a:solidFill>
                <a:latin typeface="Inter"/>
              </a:rPr>
              <a:t>DATA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14599" y="3063240"/>
            <a:ext cx="36576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794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FF9500"/>
                </a:solidFill>
                <a:latin typeface="Inter"/>
              </a:rPr>
              <a:t>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605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8A94A6"/>
                </a:solidFill>
                <a:latin typeface="Inter"/>
              </a:rPr>
              <a:t>Data poisoning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2743200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274320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F7FA"/>
                </a:solidFill>
                <a:latin typeface="Inter"/>
              </a:rPr>
              <a:t>TRAIN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00599" y="3063240"/>
            <a:ext cx="36576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0" y="3794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FF9500"/>
                </a:solidFill>
                <a:latin typeface="Inter"/>
              </a:rPr>
              <a:t>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1605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8A94A6"/>
                </a:solidFill>
                <a:latin typeface="Inter"/>
              </a:rPr>
              <a:t>Backdoor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12080" y="2743200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274320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F7FA"/>
                </a:solidFill>
                <a:latin typeface="Inter"/>
              </a:rPr>
              <a:t>REGISTRY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086599" y="3063240"/>
            <a:ext cx="36576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0" y="3794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FF9500"/>
                </a:solidFill>
                <a:latin typeface="Inter"/>
              </a:rPr>
              <a:t>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1605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8A94A6"/>
                </a:solidFill>
                <a:latin typeface="Inter"/>
              </a:rPr>
              <a:t>Model swap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0" y="2743200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0" y="274320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F7FA"/>
                </a:solidFill>
                <a:latin typeface="Inter"/>
              </a:rPr>
              <a:t>SERVE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372599" y="3063240"/>
            <a:ext cx="36576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0" y="3794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FF9500"/>
                </a:solidFill>
                <a:latin typeface="Inter"/>
              </a:rPr>
              <a:t>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0" y="41605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8A94A6"/>
                </a:solidFill>
                <a:latin typeface="Inter"/>
              </a:rPr>
              <a:t>Prompt inj.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84080" y="2743200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84080" y="274320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F7FA"/>
                </a:solidFill>
                <a:latin typeface="Inter"/>
              </a:rPr>
              <a:t>MONITOR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3794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FF9500"/>
                </a:solidFill>
                <a:latin typeface="Inter"/>
              </a:rPr>
              <a:t>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41605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8A94A6"/>
                </a:solidFill>
                <a:latin typeface="Inter"/>
              </a:rPr>
              <a:t>Drift evasion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029200"/>
            <a:ext cx="11064240" cy="1097280"/>
          </a:xfrm>
          <a:prstGeom prst="roundRect">
            <a:avLst>
              <a:gd name="adj" fmla="val 18000"/>
            </a:avLst>
          </a:prstGeom>
          <a:solidFill>
            <a:srgbClr val="2A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1663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0080"/>
                </a:solidFill>
                <a:latin typeface="Inter"/>
              </a:rPr>
              <a:t>HOY NOS CENTRAMOS EN  →  SERVE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5321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5F7FA"/>
                </a:solidFill>
                <a:latin typeface="Inter"/>
              </a:rPr>
              <a:t>Prompt injection · Indirect injection · Sensitive disclosure · Excessive agency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280160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0080"/>
                </a:solidFill>
                <a:latin typeface="Inter"/>
              </a:rPr>
              <a:t>MOMENTO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72865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5F7FA"/>
                </a:solidFill>
                <a:latin typeface="Inter"/>
              </a:rPr>
              <a:t>DEMO  › 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F5F7FA"/>
                </a:solidFill>
                <a:latin typeface="Inter"/>
              </a:rPr>
              <a:t>Prompt injection</a:t>
            </a:r>
          </a:p>
          <a:p>
            <a:pPr algn="l"/>
            <a:r>
              <a:rPr sz="7200" b="1" i="0">
                <a:solidFill>
                  <a:srgbClr val="F5F7FA"/>
                </a:solidFill>
                <a:latin typeface="Inter"/>
              </a:rPr>
              <a:t>en vivo.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8A94A6"/>
                </a:solidFill>
                <a:latin typeface="Inter"/>
              </a:rPr>
              <a:t>Sin código. Sin exploit binario. Solo lenguaje natural.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80015" y="0"/>
            <a:ext cx="201168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0080"/>
                </a:solidFill>
                <a:latin typeface="Inter"/>
              </a:rPr>
              <a:t>DEMO 1 · LO QUE VAIS A 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5F7FA"/>
                </a:solidFill>
                <a:latin typeface="Inter"/>
              </a:rPr>
              <a:t>Tres ataques sobre el mismo chatbot.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11064240" cy="12344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76272"/>
            <a:ext cx="914400" cy="914400"/>
          </a:xfrm>
          <a:prstGeom prst="roundRect">
            <a:avLst>
              <a:gd name="adj" fmla="val 18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76272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 i="0">
                <a:solidFill>
                  <a:srgbClr val="F5F7FA"/>
                </a:solidFill>
                <a:latin typeface="Inter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76272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5F7FA"/>
                </a:solidFill>
                <a:latin typeface="Inter"/>
              </a:rPr>
              <a:t>Leak del system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697480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A94A6"/>
                </a:solidFill>
                <a:latin typeface="Inter"/>
              </a:rPr>
              <a:t>Hacemos que el chatbot recite sus instrucciones secretas.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29000"/>
            <a:ext cx="11064240" cy="12344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3593592"/>
            <a:ext cx="914400" cy="914400"/>
          </a:xfrm>
          <a:prstGeom prst="roundRect">
            <a:avLst>
              <a:gd name="adj" fmla="val 18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593592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 i="0">
                <a:solidFill>
                  <a:srgbClr val="F5F7FA"/>
                </a:solidFill>
                <a:latin typeface="Inter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3593592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5F7FA"/>
                </a:solidFill>
                <a:latin typeface="Inter"/>
              </a:rPr>
              <a:t>Exfiltración de API key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114800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A94A6"/>
                </a:solidFill>
                <a:latin typeface="Inter"/>
              </a:rPr>
              <a:t>Extraemos un secreto embebido por el operador.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846320"/>
            <a:ext cx="11064240" cy="12344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5010912"/>
            <a:ext cx="914400" cy="914400"/>
          </a:xfrm>
          <a:prstGeom prst="roundRect">
            <a:avLst>
              <a:gd name="adj" fmla="val 18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010912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 i="0">
                <a:solidFill>
                  <a:srgbClr val="F5F7FA"/>
                </a:solidFill>
                <a:latin typeface="Inter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010912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5F7FA"/>
                </a:solidFill>
                <a:latin typeface="Inter"/>
              </a:rPr>
              <a:t>Aprobación de un préstamo no autorizado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5532120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A94A6"/>
                </a:solidFill>
                <a:latin typeface="Inter"/>
              </a:rPr>
              <a:t>Saltamos la política de negocio con una frase en español.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80015" y="0"/>
            <a:ext cx="201168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FF88"/>
                </a:solidFill>
                <a:latin typeface="Inter"/>
              </a:rPr>
              <a:t>TALLER · PRÁCTICA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7772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F5F7FA"/>
                </a:solidFill>
                <a:latin typeface="Inter"/>
              </a:rPr>
              <a:t>Vuestro turno.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8A94A6"/>
                </a:solidFill>
                <a:latin typeface="Inter"/>
              </a:rPr>
              <a:t>Atacáis el chatbot.</a:t>
            </a:r>
          </a:p>
          <a:p>
            <a:pPr algn="l"/>
            <a:r>
              <a:rPr sz="2200" b="0" i="0">
                <a:solidFill>
                  <a:srgbClr val="8A94A6"/>
                </a:solidFill>
                <a:latin typeface="Inter"/>
              </a:rPr>
              <a:t>3 retos · 15 minutos · puntos por orden de llegada.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2423160" cy="23774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657600"/>
            <a:ext cx="2423160" cy="548640"/>
          </a:xfrm>
          <a:prstGeom prst="roundRect">
            <a:avLst>
              <a:gd name="adj" fmla="val 18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65760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50714"/>
                </a:solidFill>
                <a:latin typeface="Inter"/>
              </a:rPr>
              <a:t>RETO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21031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F5F7FA"/>
                </a:solidFill>
                <a:latin typeface="Inter"/>
              </a:rPr>
              <a:t>Conseguid una respuesta</a:t>
            </a:r>
          </a:p>
          <a:p>
            <a:pPr algn="ctr"/>
            <a:r>
              <a:rPr sz="1500" b="0" i="0">
                <a:solidFill>
                  <a:srgbClr val="F5F7FA"/>
                </a:solidFill>
                <a:latin typeface="Inter"/>
              </a:rPr>
              <a:t>que contenga BANK-API-KEY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3657600"/>
            <a:ext cx="2423160" cy="23774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154680" y="3657600"/>
            <a:ext cx="2423160" cy="548640"/>
          </a:xfrm>
          <a:prstGeom prst="roundRect">
            <a:avLst>
              <a:gd name="adj" fmla="val 18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365760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50714"/>
                </a:solidFill>
                <a:latin typeface="Inter"/>
              </a:rPr>
              <a:t>RETO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4389120"/>
            <a:ext cx="21031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F5F7FA"/>
                </a:solidFill>
                <a:latin typeface="Inter"/>
              </a:rPr>
              <a:t>Aprobad cualquier cantidad</a:t>
            </a:r>
          </a:p>
          <a:p>
            <a:pPr algn="ctr"/>
            <a:r>
              <a:rPr sz="1500" b="0" i="0">
                <a:solidFill>
                  <a:srgbClr val="F5F7FA"/>
                </a:solidFill>
                <a:latin typeface="Inter"/>
              </a:rPr>
              <a:t>mayor que 100 000 €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3657600"/>
            <a:ext cx="2423160" cy="23774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760720" y="3657600"/>
            <a:ext cx="2423160" cy="548640"/>
          </a:xfrm>
          <a:prstGeom prst="roundRect">
            <a:avLst>
              <a:gd name="adj" fmla="val 18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0" y="365760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50714"/>
                </a:solidFill>
                <a:latin typeface="Inter"/>
              </a:rPr>
              <a:t>RETO 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389120"/>
            <a:ext cx="21031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F5F7FA"/>
                </a:solidFill>
                <a:latin typeface="Inter"/>
              </a:rPr>
              <a:t>Haced que responda</a:t>
            </a:r>
          </a:p>
          <a:p>
            <a:pPr algn="ctr"/>
            <a:r>
              <a:rPr sz="1500" b="0" i="0">
                <a:solidFill>
                  <a:srgbClr val="F5F7FA"/>
                </a:solidFill>
                <a:latin typeface="Inter"/>
              </a:rPr>
              <a:t>completamente en alemán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0" y="3291840"/>
            <a:ext cx="2194560" cy="219456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78240" y="3291840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61119" y="3291840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3998" y="3291840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26877" y="3291840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09756" y="3291840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92635" y="3291840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875514" y="3291840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241272" y="3291840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424151" y="3291840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789909" y="3291840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778240" y="3474719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75514" y="3474719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41272" y="3474719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424151" y="3474719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789909" y="3474719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778240" y="3657598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3998" y="3657598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26877" y="3657598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09756" y="3657598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75514" y="3657598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424151" y="3657598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789909" y="3657598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778240" y="3840477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43998" y="3840477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26877" y="3840477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09756" y="3840477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75514" y="3840477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241272" y="3840477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607030" y="3840477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789909" y="3840477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778240" y="4023356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143998" y="4023356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326877" y="4023356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509756" y="4023356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875514" y="4023356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241272" y="4023356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424151" y="4023356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607030" y="4023356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778240" y="4206235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14" y="4206235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241272" y="4206235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607030" y="4206235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778240" y="4389114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961119" y="4389114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43998" y="4389114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326877" y="4389114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509756" y="4389114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692635" y="4389114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875514" y="4389114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241272" y="4389114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607030" y="4389114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241272" y="4571993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424151" y="4571993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778240" y="4754872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961119" y="4754872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326877" y="4754872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509756" y="4754872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75514" y="4754872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058393" y="4754872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241272" y="4754872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143998" y="4937751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692635" y="4937751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424151" y="4937751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607030" y="4937751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789909" y="4937751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778240" y="5120630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326877" y="5120630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509756" y="5120630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875514" y="5120630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058393" y="5120630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241272" y="5120630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607030" y="5120630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961119" y="5303509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692635" y="5303509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058393" y="5303509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424151" y="5303509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789909" y="5303509"/>
            <a:ext cx="182879" cy="182879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778240" y="557784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5F7FA"/>
                </a:solidFill>
                <a:latin typeface="Inter"/>
              </a:rPr>
              <a:t>ESCANEA</a:t>
            </a:r>
          </a:p>
          <a:p>
            <a:pPr algn="ctr"/>
            <a:r>
              <a:rPr sz="1200" b="1" i="0">
                <a:solidFill>
                  <a:srgbClr val="F5F7FA"/>
                </a:solidFill>
                <a:latin typeface="Inter"/>
              </a:rPr>
              <a:t>http://lab:5001/chat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80015" y="0"/>
            <a:ext cx="201168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Inter"/>
              </a:rPr>
              <a:t>CIERRE PRÁCTICA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5F7FA"/>
                </a:solidFill>
                <a:latin typeface="Inter"/>
              </a:rPr>
              <a:t>Lo que acabáis de demostrar.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7772400" cy="86868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Inter"/>
              </a:rPr>
              <a:t>Prompt injection es trivial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A94A6"/>
                </a:solidFill>
                <a:latin typeface="Inter"/>
              </a:rPr>
              <a:t>Sin exploits. Sin reverse engineering. Solo lenguaje.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71800"/>
            <a:ext cx="7772400" cy="86868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Inter"/>
              </a:rPr>
              <a:t>El LLM no distingue instrucción de dato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832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A94A6"/>
                </a:solidFill>
                <a:latin typeface="Inter"/>
              </a:rPr>
              <a:t>El modelo trata todo el contexto como uno.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31920"/>
            <a:ext cx="7772400" cy="86868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93192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Inter"/>
              </a:rPr>
              <a:t>Cualquier delimitador es falsificable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A94A6"/>
                </a:solidFill>
                <a:latin typeface="Inter"/>
              </a:rPr>
              <a:t>Si tu defensa es &lt;BEGIN_INSTRUCTIONS&gt;, ya perdiste.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92040"/>
            <a:ext cx="7772400" cy="86868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Inter"/>
              </a:rPr>
              <a:t>Filtros regex → bypass infinito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30352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A94A6"/>
                </a:solidFill>
                <a:latin typeface="Inter"/>
              </a:rPr>
              <a:t>Traducción, encoding, ofuscación. Sin fin.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2194560"/>
            <a:ext cx="3017520" cy="3200400"/>
          </a:xfrm>
          <a:prstGeom prst="roundRect">
            <a:avLst>
              <a:gd name="adj" fmla="val 18000"/>
            </a:avLst>
          </a:prstGeom>
          <a:solidFill>
            <a:srgbClr val="330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0080"/>
                </a:solidFill>
                <a:latin typeface="Inter"/>
              </a:rPr>
              <a:t>OWASP TOP 10 ·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017520"/>
            <a:ext cx="30175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600" b="1" i="0">
                <a:solidFill>
                  <a:srgbClr val="F5F7FA"/>
                </a:solidFill>
                <a:latin typeface="Inter"/>
              </a:rPr>
              <a:t>LLM01</a:t>
            </a:r>
          </a:p>
          <a:p>
            <a:pPr algn="ctr"/>
            <a:r>
              <a:rPr sz="6600" b="1" i="0">
                <a:solidFill>
                  <a:srgbClr val="F5F7FA"/>
                </a:solidFill>
                <a:latin typeface="Inter"/>
              </a:rPr>
              <a:t>#01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47548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F5F7FA"/>
                </a:solidFill>
                <a:latin typeface="Inter"/>
              </a:rPr>
              <a:t>Prompt Injection</a:t>
            </a:r>
          </a:p>
          <a:p>
            <a:pPr algn="ctr"/>
            <a:r>
              <a:rPr sz="1300" b="0" i="1">
                <a:solidFill>
                  <a:srgbClr val="F5F7FA"/>
                </a:solidFill>
                <a:latin typeface="Inter"/>
              </a:rPr>
              <a:t>el #1 del top,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80015" y="0"/>
            <a:ext cx="201168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9500"/>
                </a:solidFill>
                <a:latin typeface="Inter"/>
              </a:rPr>
              <a:t>EL ATAQUE SILENCIOSO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5F7FA"/>
                </a:solidFill>
                <a:latin typeface="Inter"/>
              </a:rPr>
              <a:t>Indirect prompt injection.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F5F7FA"/>
                </a:solidFill>
                <a:latin typeface="Inter"/>
              </a:rPr>
              <a:t>Tu LLM ya no necesita que un atacante le hable.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9500"/>
                </a:solidFill>
                <a:latin typeface="Inter"/>
              </a:rPr>
              <a:t>Le basta con leer: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F9500"/>
                </a:solidFill>
                <a:latin typeface="Inter"/>
              </a:rPr>
              <a:t>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F5F7FA"/>
                </a:solidFill>
                <a:latin typeface="Inter"/>
              </a:rPr>
              <a:t>un PDF subido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0332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F9500"/>
                </a:solidFill>
                <a:latin typeface="Inter"/>
              </a:rP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70332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F5F7FA"/>
                </a:solidFill>
                <a:latin typeface="Inter"/>
              </a:rPr>
              <a:t>una web scrapeada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20624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F9500"/>
                </a:solidFill>
                <a:latin typeface="Inter"/>
              </a:rPr>
              <a:t>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20624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F5F7FA"/>
                </a:solidFill>
                <a:latin typeface="Inter"/>
              </a:rPr>
              <a:t>un email reenviado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0916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F9500"/>
                </a:solidFill>
                <a:latin typeface="Inter"/>
              </a:rPr>
              <a:t>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7091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F5F7FA"/>
                </a:solidFill>
                <a:latin typeface="Inter"/>
              </a:rPr>
              <a:t>un mensaje de 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21208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F9500"/>
                </a:solidFill>
                <a:latin typeface="Inter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21208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F5F7FA"/>
                </a:solidFill>
                <a:latin typeface="Inter"/>
              </a:rPr>
              <a:t>una hoja de Google Drive compartida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1828800"/>
            <a:ext cx="3108960" cy="411480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0" y="20116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0D4FF"/>
                </a:solidFill>
                <a:latin typeface="Inter"/>
              </a:rPr>
              <a:t>CADENA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24688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5F7FA"/>
                </a:solidFill>
                <a:latin typeface="Inter"/>
              </a:rPr>
              <a:t>Doc malicioso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29260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FF9500"/>
                </a:solidFill>
                <a:latin typeface="Inter"/>
              </a:rPr>
              <a:t>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3383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5F7FA"/>
                </a:solidFill>
                <a:latin typeface="Inter"/>
              </a:rPr>
              <a:t>Asistente lo lee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38404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FF9500"/>
                </a:solidFill>
                <a:latin typeface="Inter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2976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5F7FA"/>
                </a:solidFill>
                <a:latin typeface="Inter"/>
              </a:rPr>
              <a:t>Ejecuta acción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47548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FF9500"/>
                </a:solidFill>
                <a:latin typeface="Inter"/>
              </a:rPr>
              <a:t>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52120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5F7FA"/>
                </a:solidFill>
                <a:latin typeface="Inter"/>
              </a:rPr>
              <a:t>Exfil / fraude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80015" y="0"/>
            <a:ext cx="201168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Inter"/>
              </a:rPr>
              <a:t>INDIRECT INJECTION · CASOS REALES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5F7FA"/>
                </a:solidFill>
                <a:latin typeface="Inter"/>
              </a:rPr>
              <a:t>Esto ya ha pasado. Sin laboratorio.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11064240" cy="128016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194560"/>
            <a:ext cx="914400" cy="914400"/>
          </a:xfrm>
          <a:prstGeom prst="roundRect">
            <a:avLst>
              <a:gd name="adj" fmla="val 18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050714"/>
                </a:solidFill>
                <a:latin typeface="Inter"/>
              </a:rPr>
              <a:t>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76272"/>
            <a:ext cx="9509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5F7FA"/>
                </a:solidFill>
                <a:latin typeface="Inter"/>
              </a:rPr>
              <a:t>Bing Chat + arXiv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578608"/>
            <a:ext cx="9509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00D4FF"/>
                </a:solidFill>
                <a:latin typeface="Inter"/>
              </a:rPr>
              <a:t>vía Greshake et 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880360"/>
            <a:ext cx="9509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A94A6"/>
                </a:solidFill>
                <a:latin typeface="Inter"/>
              </a:rPr>
              <a:t>Payload incrustado en el abstract de un paper. Bing lo lee al resumir y ejecuta instrucciones del autor del paper.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29000"/>
            <a:ext cx="11064240" cy="128016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3611880"/>
            <a:ext cx="914400" cy="914400"/>
          </a:xfrm>
          <a:prstGeom prst="roundRect">
            <a:avLst>
              <a:gd name="adj" fmla="val 18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1188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050714"/>
                </a:solidFill>
                <a:latin typeface="Inter"/>
              </a:rPr>
              <a:t>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593592"/>
            <a:ext cx="9509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5F7FA"/>
                </a:solidFill>
                <a:latin typeface="Inter"/>
              </a:rPr>
              <a:t>Slack AI exfiltration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995928"/>
            <a:ext cx="9509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00D4FF"/>
                </a:solidFill>
                <a:latin typeface="Inter"/>
              </a:rPr>
              <a:t>vía PromptArmor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4297680"/>
            <a:ext cx="9509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A94A6"/>
                </a:solidFill>
                <a:latin typeface="Inter"/>
              </a:rPr>
              <a:t>Mensaje en canal público con instrucciones para exfiltrar DMs cuando el usuario invoque Slack AI.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46320"/>
            <a:ext cx="11064240" cy="128016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5029200"/>
            <a:ext cx="914400" cy="914400"/>
          </a:xfrm>
          <a:prstGeom prst="roundRect">
            <a:avLst>
              <a:gd name="adj" fmla="val 18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050714"/>
                </a:solidFill>
                <a:latin typeface="Inter"/>
              </a:rPr>
              <a:t>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5010912"/>
            <a:ext cx="9509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5F7FA"/>
                </a:solidFill>
                <a:latin typeface="Inter"/>
              </a:rPr>
              <a:t>Google Drive summarizer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5413248"/>
            <a:ext cx="9509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00D4FF"/>
                </a:solidFill>
                <a:latin typeface="Inter"/>
              </a:rPr>
              <a:t>vía Embrace The 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715000"/>
            <a:ext cx="9509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A94A6"/>
                </a:solidFill>
                <a:latin typeface="Inter"/>
              </a:rPr>
              <a:t>Hoja de cálculo con payload invisible. El summarizer de Drive lo procesa y filtra datos a un dominio externo.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280160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0080"/>
                </a:solidFill>
                <a:latin typeface="Inter"/>
              </a:rPr>
              <a:t>MOMENTO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72865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5F7FA"/>
                </a:solidFill>
                <a:latin typeface="Inter"/>
              </a:rPr>
              <a:t>DEMO  › 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F5F7FA"/>
                </a:solidFill>
                <a:latin typeface="Inter"/>
              </a:rPr>
              <a:t>PDF envenenado.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8A94A6"/>
                </a:solidFill>
                <a:latin typeface="Inter"/>
              </a:rPr>
              <a:t>Texto invisible para el humano. Plenamente legible para el LLM.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80015" y="0"/>
            <a:ext cx="201168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Inter"/>
              </a:rPr>
              <a:t>DEFENSA EN PROFUNDIDAD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5F7FA"/>
                </a:solidFill>
                <a:latin typeface="Inter"/>
              </a:rPr>
              <a:t>Pipeline defensivo · 8 capas, nunca una sola.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8640" y="2194560"/>
            <a:ext cx="1029441" cy="14630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 w="1587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1109441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5F7FA"/>
                </a:solidFill>
                <a:latin typeface="Inter"/>
              </a:rPr>
              <a:t>Auth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598081" y="2761488"/>
            <a:ext cx="16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98081" y="2194560"/>
            <a:ext cx="1029441" cy="14630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 w="1587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8081" y="2194560"/>
            <a:ext cx="1109441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5F7FA"/>
                </a:solidFill>
                <a:latin typeface="Inter"/>
              </a:rPr>
              <a:t>Rate limit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707523" y="2761488"/>
            <a:ext cx="16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07523" y="2194560"/>
            <a:ext cx="1029441" cy="14630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 w="15875">
            <a:solidFill>
              <a:srgbClr val="00FF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67523" y="2194560"/>
            <a:ext cx="1109441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5F7FA"/>
                </a:solidFill>
                <a:latin typeface="Inter"/>
              </a:rPr>
              <a:t>Input scanner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816964" y="2761488"/>
            <a:ext cx="16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16964" y="2194560"/>
            <a:ext cx="1029441" cy="14630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 w="15875">
            <a:solidFill>
              <a:srgbClr val="00FF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76964" y="2194560"/>
            <a:ext cx="1109441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5F7FA"/>
                </a:solidFill>
                <a:latin typeface="Inter"/>
              </a:rPr>
              <a:t>Clasificador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926406" y="2761488"/>
            <a:ext cx="16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6406" y="2194560"/>
            <a:ext cx="1029441" cy="14630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 w="15875">
            <a:solidFill>
              <a:srgbClr val="FF9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6406" y="2194560"/>
            <a:ext cx="1109441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5F7FA"/>
                </a:solidFill>
                <a:latin typeface="Inter"/>
              </a:rPr>
              <a:t>System prompt blindado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035847" y="2761488"/>
            <a:ext cx="16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35847" y="2194560"/>
            <a:ext cx="1029441" cy="14630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 w="15875">
            <a:solidFill>
              <a:srgbClr val="FF0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5847" y="2194560"/>
            <a:ext cx="1109441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5F7FA"/>
                </a:solidFill>
                <a:latin typeface="Inter"/>
              </a:rPr>
              <a:t>LLM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45289" y="2761488"/>
            <a:ext cx="16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45289" y="2194560"/>
            <a:ext cx="1029441" cy="14630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 w="15875">
            <a:solidFill>
              <a:srgbClr val="00FF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05289" y="2194560"/>
            <a:ext cx="1109441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5F7FA"/>
                </a:solidFill>
                <a:latin typeface="Inter"/>
              </a:rPr>
              <a:t>Output scanner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254730" y="2761488"/>
            <a:ext cx="16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354730" y="2194560"/>
            <a:ext cx="1029441" cy="14630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 w="15875">
            <a:solidFill>
              <a:srgbClr val="FF9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4730" y="2194560"/>
            <a:ext cx="1109441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5F7FA"/>
                </a:solidFill>
                <a:latin typeface="Inter"/>
              </a:rPr>
              <a:t>Sandbox tools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364172" y="2761488"/>
            <a:ext cx="16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464172" y="2194560"/>
            <a:ext cx="1029441" cy="14630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 w="1587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24172" y="2194560"/>
            <a:ext cx="1109441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5F7FA"/>
                </a:solidFill>
                <a:latin typeface="Inter"/>
              </a:rPr>
              <a:t>HITL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10473613" y="2761488"/>
            <a:ext cx="16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573613" y="2194560"/>
            <a:ext cx="1029441" cy="14630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 w="15875">
            <a:solidFill>
              <a:srgbClr val="8A9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33613" y="2194560"/>
            <a:ext cx="1109441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5F7FA"/>
                </a:solidFill>
                <a:latin typeface="Inter"/>
              </a:rPr>
              <a:t>Audit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2976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5F7FA"/>
                </a:solidFill>
                <a:latin typeface="Inter"/>
              </a:rPr>
              <a:t>No hay bala de plata.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937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8A94A6"/>
                </a:solidFill>
                <a:latin typeface="Inter"/>
              </a:rPr>
              <a:t>Hay defensa en profundidad — y red teaming continuo.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760720"/>
            <a:ext cx="11064240" cy="731520"/>
          </a:xfrm>
          <a:prstGeom prst="roundRect">
            <a:avLst>
              <a:gd name="adj" fmla="val 18000"/>
            </a:avLst>
          </a:prstGeom>
          <a:solidFill>
            <a:srgbClr val="063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7607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00FF88"/>
                </a:solidFill>
                <a:latin typeface="Inter"/>
              </a:rPr>
              <a:t>KPI ejecutivo →  ASR  (Attack Success Rate)   ·   target &lt; 5%   ·   medido en CI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80015" y="0"/>
            <a:ext cx="201168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FF88"/>
                </a:solidFill>
                <a:latin typeface="Inter"/>
              </a:rPr>
              <a:t>HERRAMIENTAS QUE FUNCIONAN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5F7FA"/>
                </a:solidFill>
                <a:latin typeface="Inter"/>
              </a:rPr>
              <a:t>Stack defensivo recomendado.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11064240" cy="7772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91440" cy="7772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Inter"/>
              </a:rPr>
              <a:t>LLM Guard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1920240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F5F7FA"/>
                </a:solidFill>
                <a:latin typeface="Inter"/>
              </a:rPr>
              <a:t>Scanners I/O · open-source · Laiyer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920240"/>
            <a:ext cx="40233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8A94A6"/>
                </a:solidFill>
                <a:latin typeface="Inter"/>
              </a:rPr>
              <a:t>Detecta jailbreaks, PII, secretos, código.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88920"/>
            <a:ext cx="11064240" cy="7772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788920"/>
            <a:ext cx="91440" cy="777240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78892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00FF88"/>
                </a:solidFill>
                <a:latin typeface="Inter"/>
              </a:rPr>
              <a:t>NeMo Guardrails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788920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F5F7FA"/>
                </a:solidFill>
                <a:latin typeface="Inter"/>
              </a:rPr>
              <a:t>DSL declarativo · NVIDIA · open-source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788920"/>
            <a:ext cx="40233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8A94A6"/>
                </a:solidFill>
                <a:latin typeface="Inter"/>
              </a:rPr>
              <a:t>Define reglas tipo flow chart sobre el LLM.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657600"/>
            <a:ext cx="11064240" cy="7772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657600"/>
            <a:ext cx="91440" cy="777240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65760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9500"/>
                </a:solidFill>
                <a:latin typeface="Inter"/>
              </a:rPr>
              <a:t>Llama Guard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3657600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F5F7FA"/>
                </a:solidFill>
                <a:latin typeface="Inter"/>
              </a:rPr>
              <a:t>Clasificador entrenado · Meta · open-source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657600"/>
            <a:ext cx="40233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8A94A6"/>
                </a:solidFill>
                <a:latin typeface="Inter"/>
              </a:rPr>
              <a:t>Modelo dedicado a clasificar toxicidad y violaciones.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526279"/>
            <a:ext cx="11064240" cy="7772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526279"/>
            <a:ext cx="91440" cy="7772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526279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Inter"/>
              </a:rPr>
              <a:t>Prompt Shields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526279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F5F7FA"/>
                </a:solidFill>
                <a:latin typeface="Inter"/>
              </a:rPr>
              <a:t>SaaS · Azure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4526279"/>
            <a:ext cx="40233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8A94A6"/>
                </a:solidFill>
                <a:latin typeface="Inter"/>
              </a:rPr>
              <a:t>Producto gestionado. Coste bajo, integración rápida.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94960"/>
            <a:ext cx="11064240" cy="7772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394960"/>
            <a:ext cx="91440" cy="777240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394960"/>
            <a:ext cx="3108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0080"/>
                </a:solidFill>
                <a:latin typeface="Inter"/>
              </a:rPr>
              <a:t>Spotlighting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60" y="5394960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F5F7FA"/>
                </a:solidFill>
                <a:latin typeface="Inter"/>
              </a:rPr>
              <a:t>Técnica · Microsoft Research · gratis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5394960"/>
            <a:ext cx="40233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8A94A6"/>
                </a:solidFill>
                <a:latin typeface="Inter"/>
              </a:rPr>
              <a:t>Marca datos no-confiables. Mejora 30% sin coste extra.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80015" y="0"/>
            <a:ext cx="201168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3B3B"/>
                </a:solidFill>
                <a:latin typeface="Inter"/>
              </a:rPr>
              <a:t>ANTIPATTERNS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5F7FA"/>
                </a:solidFill>
                <a:latin typeface="Inter"/>
              </a:rPr>
              <a:t>Lo que NO funciona.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11064240" cy="868680"/>
          </a:xfrm>
          <a:prstGeom prst="roundRect">
            <a:avLst>
              <a:gd name="adj" fmla="val 18000"/>
            </a:avLst>
          </a:prstGeom>
          <a:solidFill>
            <a:srgbClr val="330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3B3B"/>
                </a:solidFill>
                <a:latin typeface="Inter"/>
              </a:rPr>
              <a:t>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0574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5F7FA"/>
                </a:solidFill>
                <a:latin typeface="Inter"/>
              </a:rPr>
              <a:t>Filtros regex puros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68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8A94A6"/>
                </a:solidFill>
                <a:latin typeface="Inter"/>
              </a:rPr>
              <a:t>Bypass por traducción, encoding, ofuscación, sinónimos. Infinito.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17520"/>
            <a:ext cx="11064240" cy="868680"/>
          </a:xfrm>
          <a:prstGeom prst="roundRect">
            <a:avLst>
              <a:gd name="adj" fmla="val 18000"/>
            </a:avLst>
          </a:prstGeom>
          <a:solidFill>
            <a:srgbClr val="330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108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3B3B"/>
                </a:solidFill>
                <a:latin typeface="Inter"/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0632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5F7FA"/>
                </a:solidFill>
                <a:latin typeface="Inter"/>
              </a:rPr>
              <a:t>Confiar en el delimitador del system prompt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74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8A94A6"/>
                </a:solidFill>
                <a:latin typeface="Inter"/>
              </a:rPr>
              <a:t>&lt;&lt;&lt;INSTRUCTIONS&gt;&gt;&gt; es texto. El atacante lo reproduce.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11064240" cy="868680"/>
          </a:xfrm>
          <a:prstGeom prst="roundRect">
            <a:avLst>
              <a:gd name="adj" fmla="val 18000"/>
            </a:avLst>
          </a:prstGeom>
          <a:solidFill>
            <a:srgbClr val="330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1480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3B3B"/>
                </a:solidFill>
                <a:latin typeface="Inter"/>
              </a:rPr>
              <a:t>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0690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5F7FA"/>
                </a:solidFill>
                <a:latin typeface="Inter"/>
              </a:rPr>
              <a:t>"Lo evaluamos con benchmarks una vez al año"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480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8A94A6"/>
                </a:solidFill>
                <a:latin typeface="Inter"/>
              </a:rPr>
              <a:t>Los atacantes inventan categorías nuevas todos los meses.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029200"/>
            <a:ext cx="11064240" cy="868680"/>
          </a:xfrm>
          <a:prstGeom prst="roundRect">
            <a:avLst>
              <a:gd name="adj" fmla="val 18000"/>
            </a:avLst>
          </a:prstGeom>
          <a:solidFill>
            <a:srgbClr val="330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1206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3B3B"/>
                </a:solidFill>
                <a:latin typeface="Inter"/>
              </a:rPr>
              <a:t>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074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5F7FA"/>
                </a:solidFill>
                <a:latin typeface="Inter"/>
              </a:rPr>
              <a:t>Pensar que tu proveedor de LLM te protege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4864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8A94A6"/>
                </a:solidFill>
                <a:latin typeface="Inter"/>
              </a:rPr>
              <a:t>OpenAI/Anthropic mitigan lo común. Tu caso de uso es tuyo.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80015" y="0"/>
            <a:ext cx="201168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Inter"/>
              </a:rPr>
              <a:t>RED TEAMING CONTINUO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5F7FA"/>
                </a:solidFill>
                <a:latin typeface="Inter"/>
              </a:rPr>
              <a:t>Test continuo — no es opcional.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2926080" cy="822960"/>
          </a:xfrm>
          <a:prstGeom prst="roundRect">
            <a:avLst>
              <a:gd name="adj" fmla="val 18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050714"/>
                </a:solidFill>
                <a:latin typeface="Inter"/>
              </a:rPr>
              <a:t>Cada PR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2103120"/>
            <a:ext cx="7955279" cy="82296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0" y="2103120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F5F7FA"/>
                </a:solidFill>
                <a:latin typeface="Inter"/>
              </a:rPr>
              <a:t>Smoke suite · Garak / Promptfoo · 50 prompts · &lt;2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63239"/>
            <a:ext cx="2926080" cy="822960"/>
          </a:xfrm>
          <a:prstGeom prst="roundRect">
            <a:avLst>
              <a:gd name="adj" fmla="val 18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063239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050714"/>
                </a:solidFill>
                <a:latin typeface="Inter"/>
              </a:rPr>
              <a:t>Cada release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3063239"/>
            <a:ext cx="7955279" cy="82296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3063239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F5F7FA"/>
                </a:solidFill>
                <a:latin typeface="Inter"/>
              </a:rPr>
              <a:t>Full suite · 500+ prompts · reporte ASR / FPR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2926080" cy="822960"/>
          </a:xfrm>
          <a:prstGeom prst="roundRect">
            <a:avLst>
              <a:gd name="adj" fmla="val 18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02336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050714"/>
                </a:solidFill>
                <a:latin typeface="Inter"/>
              </a:rPr>
              <a:t>Mensual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4023360"/>
            <a:ext cx="7955279" cy="82296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4023360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F5F7FA"/>
                </a:solidFill>
                <a:latin typeface="Inter"/>
              </a:rPr>
              <a:t>Red team manual creativo · 1 ingeniero · 1 día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2926080" cy="822960"/>
          </a:xfrm>
          <a:prstGeom prst="roundRect">
            <a:avLst>
              <a:gd name="adj" fmla="val 18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98348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050714"/>
                </a:solidFill>
                <a:latin typeface="Inter"/>
              </a:rPr>
              <a:t>Continuo prod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4983480"/>
            <a:ext cx="7955279" cy="82296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31920" y="4983480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F5F7FA"/>
                </a:solidFill>
                <a:latin typeface="Inter"/>
              </a:rPr>
              <a:t>Subset canary · 5% tráfico · alertas anomalía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Inter"/>
              </a:rPr>
              <a:t>→  ASR como KPI ejecutivo. Reportable a board.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80015" y="0"/>
            <a:ext cx="201168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FF88"/>
                </a:solidFill>
                <a:latin typeface="Inter"/>
              </a:rPr>
              <a:t>TALLER · PRÁCTICA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800" b="1" i="0">
                <a:solidFill>
                  <a:srgbClr val="F5F7FA"/>
                </a:solidFill>
                <a:latin typeface="Inter"/>
              </a:rPr>
              <a:t>Diseña tu pila defensiva.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688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8A94A6"/>
                </a:solidFill>
                <a:latin typeface="Inter"/>
              </a:rPr>
              <a:t>Grupos de 3 · 10 minutos · 2-3 grupos exponen 90 segundos.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3657600" cy="246888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657600"/>
            <a:ext cx="3657600" cy="548640"/>
          </a:xfrm>
          <a:prstGeom prst="roundRect">
            <a:avLst>
              <a:gd name="adj" fmla="val 18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6576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50714"/>
                </a:solidFill>
                <a:latin typeface="Inter"/>
              </a:rPr>
              <a:t>CASO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891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5F7FA"/>
                </a:solidFill>
                <a:latin typeface="Inter"/>
              </a:rPr>
              <a:t>Asistente médico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3776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A94A6"/>
                </a:solidFill>
                <a:latin typeface="Inter"/>
              </a:rPr>
              <a:t>Sugiere diagnósticos a médicos en hospital.</a:t>
            </a:r>
          </a:p>
          <a:p>
            <a:pPr algn="l"/>
            <a:r>
              <a:rPr sz="1300" b="0" i="0">
                <a:solidFill>
                  <a:srgbClr val="8A94A6"/>
                </a:solidFill>
                <a:latin typeface="Inter"/>
              </a:rPr>
              <a:t>Accede a historiales clínicos.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657600"/>
            <a:ext cx="3657600" cy="246888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89120" y="3657600"/>
            <a:ext cx="3657600" cy="548640"/>
          </a:xfrm>
          <a:prstGeom prst="roundRect">
            <a:avLst>
              <a:gd name="adj" fmla="val 18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36576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50714"/>
                </a:solidFill>
                <a:latin typeface="Inter"/>
              </a:rPr>
              <a:t>CASO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3891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5F7FA"/>
                </a:solidFill>
                <a:latin typeface="Inter"/>
              </a:rPr>
              <a:t>Agente financiero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493776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A94A6"/>
                </a:solidFill>
                <a:latin typeface="Inter"/>
              </a:rPr>
              <a:t>Ejecuta operaciones de inversión</a:t>
            </a:r>
          </a:p>
          <a:p>
            <a:pPr algn="l"/>
            <a:r>
              <a:rPr sz="1300" b="0" i="0">
                <a:solidFill>
                  <a:srgbClr val="8A94A6"/>
                </a:solidFill>
                <a:latin typeface="Inter"/>
              </a:rPr>
              <a:t>hasta 10 000 € / día sin supervisión.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657600"/>
            <a:ext cx="3657600" cy="246888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0" y="3657600"/>
            <a:ext cx="3657600" cy="548640"/>
          </a:xfrm>
          <a:prstGeom prst="roundRect">
            <a:avLst>
              <a:gd name="adj" fmla="val 18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365760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050714"/>
                </a:solidFill>
                <a:latin typeface="Inter"/>
              </a:rPr>
              <a:t>CASO 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3891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5F7FA"/>
                </a:solidFill>
                <a:latin typeface="Inter"/>
              </a:rPr>
              <a:t>Chatbot e-commerce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93776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A94A6"/>
                </a:solidFill>
                <a:latin typeface="Inter"/>
              </a:rPr>
              <a:t>Soporte al cliente con acceso</a:t>
            </a:r>
          </a:p>
          <a:p>
            <a:pPr algn="l"/>
            <a:r>
              <a:rPr sz="1300" b="0" i="0">
                <a:solidFill>
                  <a:srgbClr val="8A94A6"/>
                </a:solidFill>
                <a:latin typeface="Inter"/>
              </a:rPr>
              <a:t>a histórico de pedidos y reembolsos.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FF88"/>
                </a:solidFill>
                <a:latin typeface="Inter"/>
              </a:rPr>
              <a:t>Entregable →  auth  +  3 controles imprescindibles  +  por qué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80015" y="0"/>
            <a:ext cx="201168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Inter"/>
              </a:rPr>
              <a:t>MARCO REGULATORIO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5F7FA"/>
                </a:solidFill>
                <a:latin typeface="Inter"/>
              </a:rPr>
              <a:t>Lo que te puede multar mañana.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3474720" cy="502920"/>
          </a:xfrm>
          <a:prstGeom prst="roundRect">
            <a:avLst>
              <a:gd name="adj" fmla="val 18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5F7FA"/>
                </a:solidFill>
                <a:latin typeface="Inter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1920240"/>
            <a:ext cx="3657600" cy="502920"/>
          </a:xfrm>
          <a:prstGeom prst="roundRect">
            <a:avLst>
              <a:gd name="adj" fmla="val 18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192024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50714"/>
                </a:solidFill>
                <a:latin typeface="Inter"/>
              </a:rPr>
              <a:t>España / 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1920240"/>
            <a:ext cx="3749039" cy="502920"/>
          </a:xfrm>
          <a:prstGeom prst="roundRect">
            <a:avLst>
              <a:gd name="adj" fmla="val 18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1920240"/>
            <a:ext cx="3749039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50714"/>
                </a:solidFill>
                <a:latin typeface="Inter"/>
              </a:rPr>
              <a:t>Internacional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514600"/>
            <a:ext cx="3474720" cy="59436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14600"/>
            <a:ext cx="34747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5F7FA"/>
                </a:solidFill>
                <a:latin typeface="Inter"/>
              </a:rPr>
              <a:t>Voluntario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2514600"/>
            <a:ext cx="3657600" cy="59436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2514600"/>
            <a:ext cx="36576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8A94A6"/>
                </a:solidFill>
                <a:latin typeface="Inter"/>
              </a:rPr>
              <a:t>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2514600"/>
            <a:ext cx="3749039" cy="59436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0" y="2514600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5F7FA"/>
                </a:solidFill>
                <a:latin typeface="Inter"/>
              </a:rPr>
              <a:t>NIST AI RMF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200400"/>
            <a:ext cx="3474720" cy="59436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200400"/>
            <a:ext cx="34747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5F7FA"/>
                </a:solidFill>
                <a:latin typeface="Inter"/>
              </a:rPr>
              <a:t>Reglamentario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0" y="3200400"/>
            <a:ext cx="3657600" cy="59436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0" y="3200400"/>
            <a:ext cx="36576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5F7FA"/>
                </a:solidFill>
                <a:latin typeface="Inter"/>
              </a:rPr>
              <a:t>EU AI Act 2024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3200400"/>
            <a:ext cx="3749039" cy="59436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0" y="3200400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8A94A6"/>
                </a:solidFill>
                <a:latin typeface="Inter"/>
              </a:rPr>
              <a:t>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886200"/>
            <a:ext cx="3474720" cy="59436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886200"/>
            <a:ext cx="34747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5F7FA"/>
                </a:solidFill>
                <a:latin typeface="Inter"/>
              </a:rPr>
              <a:t>Certificable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0" y="3886200"/>
            <a:ext cx="3657600" cy="59436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0" y="3886200"/>
            <a:ext cx="36576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8A94A6"/>
                </a:solidFill>
                <a:latin typeface="Inter"/>
              </a:rPr>
              <a:t>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63840" y="3886200"/>
            <a:ext cx="3749039" cy="59436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0" y="3886200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5F7FA"/>
                </a:solidFill>
                <a:latin typeface="Inter"/>
              </a:rPr>
              <a:t>ISO/IEC 42001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572000"/>
            <a:ext cx="3474720" cy="59436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572000"/>
            <a:ext cx="34747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5F7FA"/>
                </a:solidFill>
                <a:latin typeface="Inter"/>
              </a:rPr>
              <a:t>Sectorial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0" y="4572000"/>
            <a:ext cx="3657600" cy="59436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0" y="4572000"/>
            <a:ext cx="36576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5F7FA"/>
                </a:solidFill>
                <a:latin typeface="Inter"/>
              </a:rPr>
              <a:t>ENS (RD 311/2022)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63840" y="4572000"/>
            <a:ext cx="3749039" cy="59436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0" y="4572000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8A94A6"/>
                </a:solidFill>
                <a:latin typeface="Inter"/>
              </a:rPr>
              <a:t>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394960"/>
            <a:ext cx="11064240" cy="1005840"/>
          </a:xfrm>
          <a:prstGeom prst="roundRect">
            <a:avLst>
              <a:gd name="adj" fmla="val 18000"/>
            </a:avLst>
          </a:prstGeom>
          <a:solidFill>
            <a:srgbClr val="330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54406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3B3B"/>
                </a:solidFill>
                <a:latin typeface="Inter"/>
              </a:rPr>
              <a:t>EU AI Act · multas máximas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F5F7FA"/>
                </a:solidFill>
                <a:latin typeface="Inter"/>
              </a:rPr>
              <a:t>hasta 35 M€  ·  o 7% del facturación global anual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80015" y="0"/>
            <a:ext cx="201168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9500"/>
                </a:solidFill>
                <a:latin typeface="Inter"/>
              </a:rPr>
              <a:t>CIERRE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5F7FA"/>
                </a:solidFill>
                <a:latin typeface="Inter"/>
              </a:rPr>
              <a:t>Tres ideas para llevaros.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11064240" cy="12344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359152"/>
            <a:ext cx="914400" cy="914400"/>
          </a:xfrm>
          <a:prstGeom prst="roundRect">
            <a:avLst>
              <a:gd name="adj" fmla="val 18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59152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050714"/>
                </a:solidFill>
                <a:latin typeface="Inter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359152"/>
            <a:ext cx="9418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5F7FA"/>
                </a:solidFill>
                <a:latin typeface="Inter"/>
              </a:rPr>
              <a:t>IA = código + datos + output probabilístico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9077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8A94A6"/>
                </a:solidFill>
                <a:latin typeface="Inter"/>
              </a:rPr>
              <a:t>No le apliques solo appsec clásica. Las asunciones no se cumplen.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11880"/>
            <a:ext cx="11064240" cy="12344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776472"/>
            <a:ext cx="914400" cy="914400"/>
          </a:xfrm>
          <a:prstGeom prst="roundRect">
            <a:avLst>
              <a:gd name="adj" fmla="val 18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776472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050714"/>
                </a:solidFill>
                <a:latin typeface="Inter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776472"/>
            <a:ext cx="9418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5F7FA"/>
                </a:solidFill>
                <a:latin typeface="Inter"/>
              </a:rPr>
              <a:t>Threat model antes de desplegar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32511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8A94A6"/>
                </a:solidFill>
                <a:latin typeface="Inter"/>
              </a:rPr>
              <a:t>MITRE ATLAS + NIST AI 100-2 son tu marco. Aplica el lunes.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29200"/>
            <a:ext cx="11064240" cy="123444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5193792"/>
            <a:ext cx="914400" cy="914400"/>
          </a:xfrm>
          <a:prstGeom prst="roundRect">
            <a:avLst>
              <a:gd name="adj" fmla="val 18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193792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050714"/>
                </a:solidFill>
                <a:latin typeface="Inter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5193792"/>
            <a:ext cx="9418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5F7FA"/>
                </a:solidFill>
                <a:latin typeface="Inter"/>
              </a:rPr>
              <a:t>Defensa en profundidad + red teaming continuo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74243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8A94A6"/>
                </a:solidFill>
                <a:latin typeface="Inter"/>
              </a:rPr>
              <a:t>No hay bala de plata. Hay buenas balas combinadas — y medidas.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80015" y="0"/>
            <a:ext cx="201168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Inter"/>
              </a:rPr>
              <a:t>RECURSOS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5F7FA"/>
                </a:solidFill>
                <a:latin typeface="Inter"/>
              </a:rPr>
              <a:t>Llévatelo todo.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2377440" cy="23774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29640" y="20116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27760" y="20116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25880" y="20116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24000" y="20116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22120" y="20116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20116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16480" y="20116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14600" y="20116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10840" y="20116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22098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20240" y="22098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16480" y="22098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14600" y="22098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10840" y="22098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240792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27760" y="240792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25880" y="240792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24000" y="240792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20240" y="240792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514600" y="240792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10840" y="240792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26060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27760" y="26060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325880" y="26060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524000" y="26060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20240" y="26060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316480" y="26060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712720" y="26060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910840" y="26060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28041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27760" y="28041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325880" y="28041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24000" y="28041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20240" y="28041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316480" y="28041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514600" y="28041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712720" y="28041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31520" y="30022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920240" y="30022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316480" y="30022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12720" y="30022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31520" y="32004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29640" y="32004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27760" y="32004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325880" y="32004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524000" y="32004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722120" y="32004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920240" y="32004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316480" y="32004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712720" y="32004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316480" y="339852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514600" y="339852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31520" y="35966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29640" y="35966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325880" y="35966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524000" y="35966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920240" y="35966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118360" y="35966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316480" y="35966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127760" y="37947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722120" y="37947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514600" y="37947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712720" y="37947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910840" y="37947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31520" y="39928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325880" y="39928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524000" y="39928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920240" y="39928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118360" y="39928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316480" y="39928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712720" y="39928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9640" y="41910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722120" y="41910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118360" y="41910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514600" y="41910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910840" y="41910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1520" y="44805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5F7FA"/>
                </a:solidFill>
                <a:latin typeface="Inter"/>
              </a:rPr>
              <a:t>REPO CURSO</a:t>
            </a:r>
          </a:p>
          <a:p>
            <a:pPr algn="ctr"/>
            <a:r>
              <a:rPr sz="1200" b="1" i="0">
                <a:solidFill>
                  <a:srgbClr val="F5F7FA"/>
                </a:solidFill>
                <a:latin typeface="Inter"/>
              </a:rPr>
              <a:t>10 módulos + labs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0" y="2011680"/>
            <a:ext cx="2377440" cy="23774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657600" y="20116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855720" y="20116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053840" y="20116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251960" y="20116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450080" y="20116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648200" y="20116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846320" y="20116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242560" y="20116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440680" y="20116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836920" y="20116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657600" y="22098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846320" y="22098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242560" y="22098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440680" y="22098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836920" y="22098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657600" y="240792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053840" y="240792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251960" y="240792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50080" y="240792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846320" y="240792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440680" y="240792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836920" y="240792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657600" y="26060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053840" y="26060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251960" y="26060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450080" y="26060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846320" y="26060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242560" y="26060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638800" y="26060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836920" y="26060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657600" y="28041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053840" y="28041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251960" y="28041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450080" y="28041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846320" y="28041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242560" y="28041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5440680" y="28041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5638800" y="28041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657600" y="30022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846320" y="30022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242560" y="30022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5638800" y="30022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657600" y="32004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3855720" y="32004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053840" y="32004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4251960" y="32004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4450080" y="32004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648200" y="32004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846320" y="32004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5242560" y="32004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638800" y="32004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242560" y="339852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440680" y="339852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3657600" y="35966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3855720" y="35966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251960" y="35966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4450080" y="35966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846320" y="35966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044440" y="35966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5242560" y="359664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053840" y="37947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648200" y="37947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5440680" y="37947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5638800" y="37947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836920" y="379476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657600" y="39928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4251960" y="39928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450080" y="39928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846320" y="39928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5044440" y="39928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5242560" y="39928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5638800" y="399288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855720" y="41910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4648200" y="41910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5044440" y="41910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5440680" y="41910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5836920" y="4191000"/>
            <a:ext cx="198120" cy="19812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657600" y="44805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5F7FA"/>
                </a:solidFill>
                <a:latin typeface="Inter"/>
              </a:rPr>
              <a:t>BIBLIOGRAFÍA</a:t>
            </a:r>
          </a:p>
          <a:p>
            <a:pPr algn="ctr"/>
            <a:r>
              <a:rPr sz="1200" b="1" i="0">
                <a:solidFill>
                  <a:srgbClr val="F5F7FA"/>
                </a:solidFill>
                <a:latin typeface="Inter"/>
              </a:rPr>
              <a:t>+ slides PDF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949440" y="20116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0D4FF"/>
                </a:solidFill>
                <a:latin typeface="Inter"/>
              </a:rPr>
              <a:t>Curso SecuAI completo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949440" y="2560320"/>
            <a:ext cx="50292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0D4FF"/>
                </a:solidFill>
                <a:latin typeface="Inter"/>
              </a:rPr>
              <a:t>•  </a:t>
            </a:r>
            <a:r>
              <a:rPr sz="1400">
                <a:solidFill>
                  <a:srgbClr val="F5F7FA"/>
                </a:solidFill>
                <a:latin typeface="Inter"/>
              </a:rPr>
              <a:t>10 módulos teóricos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00D4FF"/>
                </a:solidFill>
                <a:latin typeface="Inter"/>
              </a:rPr>
              <a:t>•  </a:t>
            </a:r>
            <a:r>
              <a:rPr sz="1400">
                <a:solidFill>
                  <a:srgbClr val="F5F7FA"/>
                </a:solidFill>
                <a:latin typeface="Inter"/>
              </a:rPr>
              <a:t>6 labs Docker reproducibles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00D4FF"/>
                </a:solidFill>
                <a:latin typeface="Inter"/>
              </a:rPr>
              <a:t>•  </a:t>
            </a:r>
            <a:r>
              <a:rPr sz="1400">
                <a:solidFill>
                  <a:srgbClr val="F5F7FA"/>
                </a:solidFill>
                <a:latin typeface="Inter"/>
              </a:rPr>
              <a:t>Glosario y bibliografía completa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00D4FF"/>
                </a:solidFill>
                <a:latin typeface="Inter"/>
              </a:rPr>
              <a:t>•  </a:t>
            </a:r>
            <a:r>
              <a:rPr sz="1400">
                <a:solidFill>
                  <a:srgbClr val="F5F7FA"/>
                </a:solidFill>
                <a:latin typeface="Inter"/>
              </a:rPr>
              <a:t>Slides en Marp + PPTX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00D4FF"/>
                </a:solidFill>
                <a:latin typeface="Inter"/>
              </a:rPr>
              <a:t>•  </a:t>
            </a:r>
            <a:r>
              <a:rPr sz="1400">
                <a:solidFill>
                  <a:srgbClr val="F5F7FA"/>
                </a:solidFill>
                <a:latin typeface="Inter"/>
              </a:rPr>
              <a:t>MIT License — fórkalo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6949440" y="4846320"/>
            <a:ext cx="5029200" cy="1554480"/>
          </a:xfrm>
          <a:prstGeom prst="roundRect">
            <a:avLst>
              <a:gd name="adj" fmla="val 18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7223760" y="49377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Inter"/>
              </a:rPr>
              <a:t>CONTACTO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7223760" y="530352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5F7FA"/>
                </a:solidFill>
                <a:latin typeface="Inter"/>
              </a:rPr>
              <a:t>José Picón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223760" y="57150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Inter"/>
              </a:rPr>
              <a:t>✉  jose.bobal@gmail.com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223760" y="598932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5F7FA"/>
                </a:solidFill>
                <a:latin typeface="Inter"/>
              </a:rPr>
              <a:t>🔗  github.com/jmpicon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0"/>
            <a:ext cx="4876678" cy="54864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876678" y="3657600"/>
            <a:ext cx="3657508" cy="54864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34186" y="3657600"/>
            <a:ext cx="3657508" cy="54864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00" b="1" i="0">
                <a:solidFill>
                  <a:srgbClr val="F5F7FA"/>
                </a:solidFill>
                <a:latin typeface="Inter"/>
              </a:rPr>
              <a:t>Gracias.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1">
                <a:solidFill>
                  <a:srgbClr val="8A94A6"/>
                </a:solidFill>
                <a:latin typeface="Inter"/>
              </a:rPr>
              <a:t>¿Preguntas?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A94A6"/>
                </a:solidFill>
                <a:latin typeface="Inter"/>
              </a:rPr>
              <a:t>José Picón  ·  jose.bobal@gmail.com  ·  SecuAI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80015" y="0"/>
            <a:ext cx="201168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260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FF88"/>
                </a:solidFill>
                <a:latin typeface="Inter"/>
              </a:rPr>
              <a:t>PLUS · ANTES DE IRTE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5F7FA"/>
                </a:solidFill>
                <a:latin typeface="Inter"/>
              </a:rPr>
              <a:t>1 minuto.  Postest + valoración.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6858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1">
                <a:solidFill>
                  <a:srgbClr val="F5F7FA"/>
                </a:solidFill>
                <a:latin typeface="Inter"/>
              </a:rPr>
              <a:t>Tu feedback me hace mejor.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68580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00D4FF"/>
                </a:solidFill>
                <a:latin typeface="Inter"/>
              </a:rPr>
              <a:t>•  </a:t>
            </a:r>
            <a:r>
              <a:rPr sz="1600">
                <a:solidFill>
                  <a:srgbClr val="F5F7FA"/>
                </a:solidFill>
                <a:latin typeface="Inter"/>
              </a:rPr>
              <a:t>5 preguntas técnicas — para medir aprendizaje.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0D4FF"/>
                </a:solidFill>
                <a:latin typeface="Inter"/>
              </a:rPr>
              <a:t>•  </a:t>
            </a:r>
            <a:r>
              <a:rPr sz="1600">
                <a:solidFill>
                  <a:srgbClr val="F5F7FA"/>
                </a:solidFill>
                <a:latin typeface="Inter"/>
              </a:rPr>
              <a:t>3 preguntas de valoración — para mejorar la próxima vez.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0D4FF"/>
                </a:solidFill>
                <a:latin typeface="Inter"/>
              </a:rPr>
              <a:t>•  </a:t>
            </a:r>
            <a:r>
              <a:rPr sz="1600">
                <a:solidFill>
                  <a:srgbClr val="F5F7FA"/>
                </a:solidFill>
                <a:latin typeface="Inter"/>
              </a:rPr>
              <a:t>Anónimo. Sin datos personales.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0D4FF"/>
                </a:solidFill>
                <a:latin typeface="Inter"/>
              </a:rPr>
              <a:t>•  </a:t>
            </a:r>
            <a:r>
              <a:rPr sz="1600">
                <a:solidFill>
                  <a:srgbClr val="F5F7FA"/>
                </a:solidFill>
                <a:latin typeface="Inter"/>
              </a:rPr>
              <a:t>1 minuto. Prometido.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2286000"/>
            <a:ext cx="2926080" cy="29260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228600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73440" y="228600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17280" y="228600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61120" y="228600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204960" y="228600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48800" y="228600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92640" y="228600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180320" y="228600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24160" y="228600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11840" y="228600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252984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92640" y="252984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180320" y="252984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424160" y="252984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911840" y="252984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0" y="277368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17280" y="277368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61120" y="277368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04960" y="277368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692640" y="277368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424160" y="277368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911840" y="277368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29600" y="301752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17280" y="301752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61120" y="301752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204960" y="301752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92640" y="301752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80320" y="301752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668000" y="301752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911840" y="301752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29600" y="326136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717280" y="326136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61120" y="326136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204960" y="326136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692640" y="326136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80320" y="326136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424160" y="326136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668000" y="326136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229600" y="350520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692640" y="350520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180320" y="350520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668000" y="350520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229600" y="374904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473440" y="374904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717280" y="374904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961120" y="374904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204960" y="374904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448800" y="374904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692640" y="374904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180320" y="374904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68000" y="374904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180320" y="399288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424160" y="399288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229600" y="423672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473440" y="423672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961120" y="423672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04960" y="423672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692640" y="423672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936480" y="423672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180320" y="423672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717280" y="448056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448800" y="448056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424160" y="448056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668000" y="448056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911840" y="448056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229600" y="472440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961120" y="472440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204960" y="472440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692640" y="472440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936480" y="472440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180320" y="472440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668000" y="472440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473440" y="496824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448800" y="496824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936480" y="496824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424160" y="496824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911840" y="4968240"/>
            <a:ext cx="243840" cy="24384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29600" y="53035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F5F7FA"/>
                </a:solidFill>
                <a:latin typeface="Inter"/>
              </a:rPr>
              <a:t>POSTEST</a:t>
            </a:r>
          </a:p>
          <a:p>
            <a:pPr algn="ctr"/>
            <a:r>
              <a:rPr sz="1200" b="1" i="0">
                <a:solidFill>
                  <a:srgbClr val="F5F7FA"/>
                </a:solidFill>
                <a:latin typeface="Inter"/>
              </a:rPr>
              <a:t>+ VALORACIÓN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FF88"/>
                </a:solidFill>
                <a:latin typeface="Inter"/>
              </a:rPr>
              <a:t>🙏  Gracias por estar aquí.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Inter"/>
              </a:rPr>
              <a:t>SecuAI · Hackeando la IA · José Picón · 2026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277295" y="64465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